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031A3-E979-BEDC-F52E-05938DBD9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3AAAE2-2167-0B31-EA8D-30C3F121A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491AF0-3B24-F3D2-3E61-DA7DBEDBC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391D8-13CE-1A24-7C92-DE4152E6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EDF533-F2F3-D24D-B870-3A2150B2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47217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3A99C-422F-058B-8E61-CC2AFD24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DFE697-27F8-E3D1-5FB2-8982DCA03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CA961E-A810-F4D1-AFAE-68B71DF2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BFF3D1-8BB6-7147-A90C-AFF052C3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B366EE-382B-CB0A-66EA-4DAFB77C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01246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73192-73A4-6916-1A64-965A65C3A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115F32-E652-8474-D482-38776C0CE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63DE60-4DC4-B619-C287-84E8354E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FDCCE4-9C95-D958-3E23-CFCE93C2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F402A8-D5E9-5E39-9C2E-1A62629C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2009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1CA3A1-3D9C-83A8-634C-E90859FD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BAD010-2924-3619-F3F4-8CD4882F9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7F5EB2-A28C-AB85-6526-1F3C81EAD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AC4CE4-E479-1685-DDDA-BC999E005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99FAF5-3574-9F81-2315-08375EA1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F47C7C-B09F-8DC9-3601-FDD40C3A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8329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F5B31-D3F3-A0BE-390F-90074727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05A1BF-03FE-D805-CD9C-5CDEBA8AF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B9EF2E-520B-7EDF-F7D0-12278B346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731F5D-EBB7-7750-372C-7EC4427A6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0E69B3-435D-13F5-2342-403E5E5B4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5B1379-5F9F-1161-0751-327017DD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54A408-FD44-5338-A350-DE1E3061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D67F58-CAC1-EFDF-4EB8-16807027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421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6FF75-96BD-BBE5-0110-7F1547A52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40888E3-1415-43C1-0A3F-16B4F5D3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4406C6-0453-2521-5E30-28FD4242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E4C522-92D7-A386-44DD-BA1E46E7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7290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CC1CFA-1AA9-8C6E-A8AA-70A19A02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C13E7F-46C7-B091-C01D-2032CC78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522CB3-09B3-76DF-FE12-86AC6137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8017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1117F-5ED8-D30A-5830-A00AF20E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065078-3506-DC8C-6F5B-2BA7ABC7E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16B097-6C40-D09D-7E0F-E27A76464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722D97-4481-9B20-1CC7-1FE9FFE7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3ABE3D-010D-8A5E-3445-60AF8901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B91ED4-453C-DE85-FD6D-C5452B6E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9402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0D707-19A2-7729-A473-E1112C47F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3109438-C943-23EA-2516-7430A47F2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4C4706-B740-2BBE-7C93-0A6CEF1F2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9419E5-F15B-DB84-1629-5B6ABE6E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7818C5-C5A7-AFB3-EAF7-8A7F4599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AE3136-F759-1FC0-5EBA-91B102AB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0832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C6491-5C8A-A018-5063-28F7554C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ADC2B9-6CAB-A953-FC22-AB68EB5B9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77B04E-52F9-1479-372D-82C48A64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9FA8C1-3693-2236-C071-BA7919E3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20900C-4B70-732B-9BE1-3834CC5F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3626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DF0D41-DCC1-C914-E661-8EB0CC347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D2D2D8-D65B-8AA0-5659-3C1289B9A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6F67C9-AED6-9024-8DE6-F63EBE69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6BA311-4919-EA53-9ECD-985E6CDB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F8BC4F-24A9-1A64-4425-E0F1EA53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4209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CAA90-23FC-DB57-314A-EE17D25D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EDF66A-0C51-6325-FF0E-5260C6F9E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B41CA2-C44D-CA82-86FA-C0A707A4F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99F72-7126-40BE-9B9E-2FB25967250E}" type="datetimeFigureOut">
              <a:rPr lang="ru-KZ" smtClean="0"/>
              <a:t>01.08.2026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A7824-A0C6-0D03-316E-2AD2D10F6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DC5E4-BE8C-77FE-ACCC-A83CD012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AD971-F544-4554-AB99-07C53748DAF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232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A8018-1B49-E1D4-966C-3B8BE41CB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44" y="1303506"/>
            <a:ext cx="6073403" cy="2791838"/>
          </a:xfrm>
        </p:spPr>
        <p:txBody>
          <a:bodyPr>
            <a:normAutofit fontScale="90000"/>
          </a:bodyPr>
          <a:lstStyle/>
          <a:p>
            <a:r>
              <a:rPr lang="ru-KZ" sz="4800" dirty="0">
                <a:solidFill>
                  <a:schemeClr val="accent1"/>
                </a:solidFill>
                <a:latin typeface="Comic Sans MS" panose="030F0702030302020204" pitchFamily="66" charset="0"/>
              </a:rPr>
              <a:t>Анализ ассортимента и цен на антибактериальные препараты 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B2FC95-5F84-8375-39BB-760298B9F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972"/>
          <a:stretch>
            <a:fillRect/>
          </a:stretch>
        </p:blipFill>
        <p:spPr>
          <a:xfrm>
            <a:off x="2298330" y="4095344"/>
            <a:ext cx="2439678" cy="622571"/>
          </a:xfrm>
          <a:prstGeom prst="rect">
            <a:avLst/>
          </a:prstGeom>
        </p:spPr>
      </p:pic>
      <p:pic>
        <p:nvPicPr>
          <p:cNvPr id="12" name="Рисунок 11" descr="How Do Medicines Get Their Names?">
            <a:extLst>
              <a:ext uri="{FF2B5EF4-FFF2-40B4-BE49-F238E27FC236}">
                <a16:creationId xmlns:a16="http://schemas.microsoft.com/office/drawing/2014/main" id="{708BEBB1-782E-9435-CA4A-59D9A5CC3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548" y="1303506"/>
            <a:ext cx="5562600" cy="421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239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52E70-7247-43CA-1E48-37DD3356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>
                <a:solidFill>
                  <a:schemeClr val="accent1"/>
                </a:solidFill>
                <a:latin typeface="Comic Sans MS" panose="030F0702030302020204" pitchFamily="66" charset="0"/>
              </a:rPr>
              <a:t>Источник данных </a:t>
            </a:r>
            <a:r>
              <a:rPr lang="ru-RU" dirty="0">
                <a:solidFill>
                  <a:schemeClr val="accent1"/>
                </a:solidFill>
                <a:latin typeface="Comic Sans MS" panose="030F0702030302020204" pitchFamily="66" charset="0"/>
              </a:rPr>
              <a:t>– интернет-магазин </a:t>
            </a:r>
            <a:r>
              <a:rPr lang="en-US" dirty="0" err="1">
                <a:solidFill>
                  <a:schemeClr val="accent1"/>
                </a:solidFill>
                <a:latin typeface="Comic Sans MS" panose="030F0702030302020204" pitchFamily="66" charset="0"/>
              </a:rPr>
              <a:t>Daribar</a:t>
            </a:r>
            <a:endParaRPr lang="ru-KZ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BB70CC-88A4-B1A7-1AAD-5C202A9F8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17" y="1809345"/>
            <a:ext cx="11050366" cy="48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32C67-7EC2-23F9-D20E-9A02CECD9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39CD889-F221-264A-D6DE-7C11CD3C0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285" y="106574"/>
            <a:ext cx="11449455" cy="64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7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9696F-9CC0-1D4C-B1A2-93A09297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576"/>
            <a:ext cx="10515600" cy="1325563"/>
          </a:xfrm>
        </p:spPr>
        <p:txBody>
          <a:bodyPr/>
          <a:lstStyle/>
          <a:p>
            <a:pPr algn="ctr"/>
            <a:r>
              <a:rPr lang="ru-KZ" dirty="0" err="1">
                <a:solidFill>
                  <a:schemeClr val="accent1"/>
                </a:solidFill>
                <a:latin typeface="Comic Sans MS" panose="030F0702030302020204" pitchFamily="66" charset="0"/>
              </a:rPr>
              <a:t>Exploratory</a:t>
            </a:r>
            <a:r>
              <a:rPr lang="ru-KZ" dirty="0">
                <a:solidFill>
                  <a:schemeClr val="accent1"/>
                </a:solidFill>
                <a:latin typeface="Comic Sans MS" panose="030F0702030302020204" pitchFamily="66" charset="0"/>
              </a:rPr>
              <a:t> Data Analysis (EDA)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6097AD-DF17-BD45-4FE2-38F528AB9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71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9 </a:t>
            </a:r>
            <a:r>
              <a:rPr lang="kk-KZ" dirty="0">
                <a:solidFill>
                  <a:schemeClr val="tx2"/>
                </a:solidFill>
              </a:rPr>
              <a:t>столбцов </a:t>
            </a:r>
            <a:r>
              <a:rPr lang="ru-RU" dirty="0">
                <a:solidFill>
                  <a:schemeClr val="tx2"/>
                </a:solidFill>
              </a:rPr>
              <a:t>- </a:t>
            </a:r>
            <a:r>
              <a:rPr lang="ru-KZ" dirty="0">
                <a:solidFill>
                  <a:schemeClr val="tx2"/>
                </a:solidFill>
              </a:rPr>
              <a:t>'Название', 'Город', 'Дозировка', 'Лекарственная форма', '</a:t>
            </a:r>
            <a:r>
              <a:rPr lang="ru-KZ" dirty="0" err="1">
                <a:solidFill>
                  <a:schemeClr val="tx2"/>
                </a:solidFill>
              </a:rPr>
              <a:t>шт</a:t>
            </a:r>
            <a:r>
              <a:rPr lang="ru-KZ" dirty="0">
                <a:solidFill>
                  <a:schemeClr val="tx2"/>
                </a:solidFill>
              </a:rPr>
              <a:t> в упаковке', 'Цена', 'Действующее вещество', 'Производитель', 'Страна производитель’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ru-KZ" dirty="0">
                <a:solidFill>
                  <a:schemeClr val="tx2"/>
                </a:solidFill>
              </a:rPr>
              <a:t>2194 </a:t>
            </a:r>
            <a:r>
              <a:rPr lang="ru-RU" dirty="0">
                <a:solidFill>
                  <a:schemeClr val="tx2"/>
                </a:solidFill>
              </a:rPr>
              <a:t>строк = от </a:t>
            </a:r>
            <a:r>
              <a:rPr lang="ru-KZ" dirty="0">
                <a:solidFill>
                  <a:schemeClr val="tx2"/>
                </a:solidFill>
              </a:rPr>
              <a:t>0 </a:t>
            </a:r>
            <a:r>
              <a:rPr lang="ru-RU" dirty="0">
                <a:solidFill>
                  <a:schemeClr val="tx2"/>
                </a:solidFill>
              </a:rPr>
              <a:t>до</a:t>
            </a:r>
            <a:r>
              <a:rPr lang="ru-KZ" dirty="0">
                <a:solidFill>
                  <a:schemeClr val="tx2"/>
                </a:solidFill>
              </a:rPr>
              <a:t> 2193</a:t>
            </a:r>
            <a:endParaRPr lang="ru-RU" dirty="0">
              <a:solidFill>
                <a:schemeClr val="tx2"/>
              </a:solidFill>
            </a:endParaRP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172E1E-768C-9E76-7268-C5523A5C6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4" y="3428999"/>
            <a:ext cx="4334382" cy="319885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9067AC-64A9-C256-684D-FA3B3F35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38"/>
          <a:stretch>
            <a:fillRect/>
          </a:stretch>
        </p:blipFill>
        <p:spPr>
          <a:xfrm>
            <a:off x="6356822" y="3615383"/>
            <a:ext cx="4562273" cy="22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78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E0F58-27B2-2E4D-2C7F-AAEDE5F1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k-KZ" dirty="0">
                <a:solidFill>
                  <a:schemeClr val="accent1"/>
                </a:solidFill>
                <a:latin typeface="Comic Sans MS" panose="030F0702030302020204" pitchFamily="66" charset="0"/>
              </a:rPr>
              <a:t>Описание столбцов</a:t>
            </a:r>
            <a:endParaRPr lang="ru-KZ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A45BCD2-16F4-7341-E1D6-AB0AA1AC5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8136946"/>
              </p:ext>
            </p:extLst>
          </p:nvPr>
        </p:nvGraphicFramePr>
        <p:xfrm>
          <a:off x="731196" y="1574800"/>
          <a:ext cx="10515597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318347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792929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32745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столбцы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ненуловых</a:t>
                      </a:r>
                      <a:r>
                        <a:rPr lang="ru-RU" dirty="0"/>
                        <a:t> значений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данных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76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'Название'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2190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2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'Город'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2190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13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'Дозировка'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2114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959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'Лекарственная форма'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2172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23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KZ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шт</a:t>
                      </a:r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 упаковке'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1554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89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'Цена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1041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885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'Действующее вещество'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2060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340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'Производитель'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2184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258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K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'Страна производитель'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2186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29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17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228CD-7F4B-DAC9-D4A4-54955092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omic Sans MS" panose="030F0702030302020204" pitchFamily="66" charset="0"/>
              </a:rPr>
              <a:t>Data cleaning</a:t>
            </a:r>
            <a:endParaRPr lang="ru-KZ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FB94E6-EED6-3B9F-13AF-007B3F2D1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ru-KZ" dirty="0" err="1">
                <a:solidFill>
                  <a:schemeClr val="tx2"/>
                </a:solidFill>
              </a:rPr>
              <a:t>df</a:t>
            </a:r>
            <a:r>
              <a:rPr lang="ru-KZ" dirty="0">
                <a:solidFill>
                  <a:schemeClr val="tx2"/>
                </a:solidFill>
              </a:rPr>
              <a:t> = </a:t>
            </a:r>
            <a:r>
              <a:rPr lang="ru-KZ" b="1" dirty="0" err="1">
                <a:solidFill>
                  <a:schemeClr val="tx2"/>
                </a:solidFill>
              </a:rPr>
              <a:t>df.dropna</a:t>
            </a:r>
            <a:r>
              <a:rPr lang="ru-KZ" dirty="0">
                <a:solidFill>
                  <a:schemeClr val="tx2"/>
                </a:solidFill>
              </a:rPr>
              <a:t>(</a:t>
            </a:r>
            <a:r>
              <a:rPr lang="ru-KZ" dirty="0" err="1">
                <a:solidFill>
                  <a:schemeClr val="tx2"/>
                </a:solidFill>
              </a:rPr>
              <a:t>axis</a:t>
            </a:r>
            <a:r>
              <a:rPr lang="ru-KZ" dirty="0">
                <a:solidFill>
                  <a:schemeClr val="tx2"/>
                </a:solidFill>
              </a:rPr>
              <a:t>=0, </a:t>
            </a:r>
            <a:r>
              <a:rPr lang="ru-KZ" dirty="0" err="1">
                <a:solidFill>
                  <a:schemeClr val="tx2"/>
                </a:solidFill>
              </a:rPr>
              <a:t>how</a:t>
            </a:r>
            <a:r>
              <a:rPr lang="ru-KZ" dirty="0">
                <a:solidFill>
                  <a:schemeClr val="tx2"/>
                </a:solidFill>
              </a:rPr>
              <a:t>="</a:t>
            </a:r>
            <a:r>
              <a:rPr lang="ru-KZ" dirty="0" err="1">
                <a:solidFill>
                  <a:schemeClr val="tx2"/>
                </a:solidFill>
              </a:rPr>
              <a:t>all</a:t>
            </a:r>
            <a:r>
              <a:rPr lang="ru-KZ" dirty="0">
                <a:solidFill>
                  <a:schemeClr val="tx2"/>
                </a:solidFill>
              </a:rPr>
              <a:t>")</a:t>
            </a:r>
            <a:r>
              <a:rPr lang="kk-KZ" dirty="0">
                <a:solidFill>
                  <a:schemeClr val="tx2"/>
                </a:solidFill>
              </a:rPr>
              <a:t>  </a:t>
            </a:r>
            <a:r>
              <a:rPr lang="ru-RU" dirty="0">
                <a:solidFill>
                  <a:schemeClr val="tx2"/>
                </a:solidFill>
              </a:rPr>
              <a:t>- 3</a:t>
            </a:r>
            <a:endParaRPr lang="kk-KZ" dirty="0">
              <a:solidFill>
                <a:schemeClr val="tx2"/>
              </a:solidFill>
            </a:endParaRPr>
          </a:p>
          <a:p>
            <a:r>
              <a:rPr lang="ru-KZ" dirty="0" err="1">
                <a:solidFill>
                  <a:schemeClr val="tx2"/>
                </a:solidFill>
              </a:rPr>
              <a:t>print</a:t>
            </a:r>
            <a:r>
              <a:rPr lang="ru-KZ" dirty="0">
                <a:solidFill>
                  <a:schemeClr val="tx2"/>
                </a:solidFill>
              </a:rPr>
              <a:t>("Полных дубликатов:", </a:t>
            </a:r>
            <a:r>
              <a:rPr lang="ru-KZ" dirty="0" err="1">
                <a:solidFill>
                  <a:schemeClr val="tx2"/>
                </a:solidFill>
              </a:rPr>
              <a:t>df.duplicated</a:t>
            </a:r>
            <a:r>
              <a:rPr lang="ru-KZ" dirty="0">
                <a:solidFill>
                  <a:schemeClr val="tx2"/>
                </a:solidFill>
              </a:rPr>
              <a:t>().</a:t>
            </a:r>
            <a:r>
              <a:rPr lang="ru-KZ" dirty="0" err="1">
                <a:solidFill>
                  <a:schemeClr val="tx2"/>
                </a:solidFill>
              </a:rPr>
              <a:t>sum</a:t>
            </a:r>
            <a:r>
              <a:rPr lang="ru-KZ" dirty="0">
                <a:solidFill>
                  <a:schemeClr val="tx2"/>
                </a:solidFill>
              </a:rPr>
              <a:t>())</a:t>
            </a:r>
          </a:p>
          <a:p>
            <a:pPr marL="0" indent="0">
              <a:buNone/>
            </a:pPr>
            <a:r>
              <a:rPr lang="kk-KZ" dirty="0">
                <a:solidFill>
                  <a:schemeClr val="tx2"/>
                </a:solidFill>
              </a:rPr>
              <a:t>   </a:t>
            </a:r>
            <a:r>
              <a:rPr lang="ru-KZ" b="1" dirty="0" err="1">
                <a:solidFill>
                  <a:schemeClr val="tx2"/>
                </a:solidFill>
              </a:rPr>
              <a:t>df.drop_duplicates</a:t>
            </a:r>
            <a:r>
              <a:rPr lang="ru-KZ" b="1" dirty="0">
                <a:solidFill>
                  <a:schemeClr val="tx2"/>
                </a:solidFill>
              </a:rPr>
              <a:t>()</a:t>
            </a:r>
            <a:r>
              <a:rPr lang="ru-RU" b="1" dirty="0">
                <a:solidFill>
                  <a:schemeClr val="tx2"/>
                </a:solidFill>
              </a:rPr>
              <a:t>  </a:t>
            </a:r>
            <a:r>
              <a:rPr lang="ru-RU" dirty="0">
                <a:solidFill>
                  <a:schemeClr val="tx2"/>
                </a:solidFill>
              </a:rPr>
              <a:t>- 3</a:t>
            </a:r>
          </a:p>
          <a:p>
            <a:r>
              <a:rPr lang="ru-KZ" b="1" dirty="0">
                <a:solidFill>
                  <a:schemeClr val="tx2"/>
                </a:solidFill>
              </a:rPr>
              <a:t>'Название': 'Метронидазол Таблетки 250 Мг №20 в Астане | Борисовский ЗМП’</a:t>
            </a:r>
            <a:r>
              <a:rPr lang="ru-RU" b="1" dirty="0">
                <a:solidFill>
                  <a:schemeClr val="tx2"/>
                </a:solidFill>
              </a:rPr>
              <a:t> </a:t>
            </a:r>
            <a:r>
              <a:rPr lang="ru-RU" dirty="0">
                <a:solidFill>
                  <a:schemeClr val="tx2"/>
                </a:solidFill>
              </a:rPr>
              <a:t>– очистка с помощью регулярных выражений</a:t>
            </a:r>
          </a:p>
          <a:p>
            <a:r>
              <a:rPr lang="ru-RU" b="1" dirty="0">
                <a:solidFill>
                  <a:schemeClr val="tx2"/>
                </a:solidFill>
              </a:rPr>
              <a:t>Ручная очистка текстовых данных  </a:t>
            </a:r>
            <a:r>
              <a:rPr lang="ru-RU" dirty="0">
                <a:solidFill>
                  <a:schemeClr val="tx2"/>
                </a:solidFill>
              </a:rPr>
              <a:t>- названия компаний, названия стран</a:t>
            </a:r>
            <a:endParaRPr lang="ru-KZ" dirty="0">
              <a:solidFill>
                <a:schemeClr val="tx2"/>
              </a:solidFill>
            </a:endParaRP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20246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D2FA3-7A7B-D01C-415D-C36DCF06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omic Sans MS" panose="030F0702030302020204" pitchFamily="66" charset="0"/>
              </a:rPr>
              <a:t>Data analysis and visualization</a:t>
            </a:r>
            <a:br>
              <a:rPr lang="ru-RU" dirty="0">
                <a:solidFill>
                  <a:schemeClr val="accent1"/>
                </a:solidFill>
                <a:latin typeface="Comic Sans MS" panose="030F0702030302020204" pitchFamily="66" charset="0"/>
              </a:rPr>
            </a:br>
            <a:r>
              <a:rPr lang="ru-RU" dirty="0">
                <a:solidFill>
                  <a:schemeClr val="accent1"/>
                </a:solidFill>
                <a:latin typeface="Comic Sans MS" panose="030F0702030302020204" pitchFamily="66" charset="0"/>
              </a:rPr>
              <a:t>Анализ ассортимента</a:t>
            </a:r>
            <a:endParaRPr lang="ru-KZ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D734738-A89A-E1B5-C11F-F5C7B1EFE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" r="4865"/>
          <a:stretch>
            <a:fillRect/>
          </a:stretch>
        </p:blipFill>
        <p:spPr>
          <a:xfrm>
            <a:off x="87548" y="1773164"/>
            <a:ext cx="11955295" cy="451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1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5693FC-18DC-D8DE-2BB0-B57AC2A4A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" b="5140"/>
          <a:stretch>
            <a:fillRect/>
          </a:stretch>
        </p:blipFill>
        <p:spPr>
          <a:xfrm>
            <a:off x="423758" y="401114"/>
            <a:ext cx="11585643" cy="590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13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174BA5DB-89E9-A55F-BBAF-092522700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" t="2678" r="4005" b="7392"/>
          <a:stretch>
            <a:fillRect/>
          </a:stretch>
        </p:blipFill>
        <p:spPr>
          <a:xfrm>
            <a:off x="505838" y="199304"/>
            <a:ext cx="11383781" cy="625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A9E6AD65-C1BF-2A2C-A479-AC39CF334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" r="4299" b="5373"/>
          <a:stretch>
            <a:fillRect/>
          </a:stretch>
        </p:blipFill>
        <p:spPr>
          <a:xfrm>
            <a:off x="214009" y="311576"/>
            <a:ext cx="11867743" cy="603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46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253FC-737C-DE11-A120-B6A34B39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1"/>
                </a:solidFill>
                <a:latin typeface="Comic Sans MS" panose="030F0702030302020204" pitchFamily="66" charset="0"/>
              </a:rPr>
              <a:t>Сравнительный анализ цен для Астаны и Алматы</a:t>
            </a:r>
            <a:endParaRPr lang="ru-KZ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D1C40-2D24-166A-1EE4-187144866320}"/>
              </a:ext>
            </a:extLst>
          </p:cNvPr>
          <p:cNvSpPr txBox="1"/>
          <p:nvPr/>
        </p:nvSpPr>
        <p:spPr>
          <a:xfrm>
            <a:off x="301496" y="1897414"/>
            <a:ext cx="114199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k-KZ" sz="2800" dirty="0">
                <a:solidFill>
                  <a:schemeClr val="tx2"/>
                </a:solidFill>
              </a:rPr>
              <a:t>Создание сводной таблицы </a:t>
            </a:r>
            <a:r>
              <a:rPr lang="ru-RU" sz="2800" dirty="0">
                <a:solidFill>
                  <a:schemeClr val="tx2"/>
                </a:solidFill>
              </a:rPr>
              <a:t>– </a:t>
            </a:r>
            <a:r>
              <a:rPr lang="en-US" sz="2800" b="1" dirty="0" err="1">
                <a:solidFill>
                  <a:schemeClr val="tx2"/>
                </a:solidFill>
              </a:rPr>
              <a:t>pd.pivot_table</a:t>
            </a:r>
            <a:endParaRPr lang="en-US" sz="2800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KZ" sz="2800" dirty="0" err="1">
                <a:solidFill>
                  <a:schemeClr val="tx2"/>
                </a:solidFill>
              </a:rPr>
              <a:t>price_compare</a:t>
            </a:r>
            <a:r>
              <a:rPr lang="ru-KZ" sz="2800" dirty="0">
                <a:solidFill>
                  <a:schemeClr val="tx2"/>
                </a:solidFill>
              </a:rPr>
              <a:t>=</a:t>
            </a:r>
            <a:r>
              <a:rPr lang="ru-KZ" sz="2800" dirty="0" err="1">
                <a:solidFill>
                  <a:schemeClr val="tx2"/>
                </a:solidFill>
              </a:rPr>
              <a:t>price_pivot.dropna</a:t>
            </a:r>
            <a:r>
              <a:rPr lang="ru-KZ" sz="2800" dirty="0">
                <a:solidFill>
                  <a:schemeClr val="tx2"/>
                </a:solidFill>
              </a:rPr>
              <a:t>(</a:t>
            </a:r>
            <a:r>
              <a:rPr lang="ru-KZ" sz="2800" dirty="0" err="1">
                <a:solidFill>
                  <a:schemeClr val="tx2"/>
                </a:solidFill>
              </a:rPr>
              <a:t>subset</a:t>
            </a:r>
            <a:r>
              <a:rPr lang="ru-KZ" sz="2800" dirty="0">
                <a:solidFill>
                  <a:schemeClr val="tx2"/>
                </a:solidFill>
              </a:rPr>
              <a:t>=['Алматы', 'Астана'].</a:t>
            </a:r>
            <a:r>
              <a:rPr lang="ru-KZ" sz="2800" dirty="0" err="1">
                <a:solidFill>
                  <a:schemeClr val="tx2"/>
                </a:solidFill>
              </a:rPr>
              <a:t>copy</a:t>
            </a:r>
            <a:r>
              <a:rPr lang="ru-KZ" sz="2800" dirty="0">
                <a:solidFill>
                  <a:schemeClr val="tx2"/>
                </a:solidFill>
              </a:rPr>
              <a:t>())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5F5032-D303-CA91-7F24-47C9E1E5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1281"/>
            <a:ext cx="6660812" cy="24384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47D8AA7-4C24-4ED6-FD18-25715340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2851521"/>
            <a:ext cx="524827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1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070552-4C31-D1BF-A401-B5304A6DF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495" y="127878"/>
            <a:ext cx="3869527" cy="330112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9047352-E239-8559-9C5A-73F120F4DB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18"/>
          <a:stretch>
            <a:fillRect/>
          </a:stretch>
        </p:blipFill>
        <p:spPr>
          <a:xfrm>
            <a:off x="1773560" y="3686782"/>
            <a:ext cx="3312500" cy="260701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0AA7159-2E0D-A8CF-63C2-2284AC49CB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84" t="1749" r="16193"/>
          <a:stretch>
            <a:fillRect/>
          </a:stretch>
        </p:blipFill>
        <p:spPr>
          <a:xfrm>
            <a:off x="6556443" y="398834"/>
            <a:ext cx="5282119" cy="560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3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BBD907-0625-46F1-2B47-84D6BAAAB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295"/>
            <a:ext cx="12192000" cy="59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3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7BF6FC-B688-0968-B519-161A874B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95250"/>
            <a:ext cx="9525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47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EC1773C4-A8A5-A042-1364-4BD2EF942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89" y="223250"/>
            <a:ext cx="9863847" cy="64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9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>
            <a:extLst>
              <a:ext uri="{FF2B5EF4-FFF2-40B4-BE49-F238E27FC236}">
                <a16:creationId xmlns:a16="http://schemas.microsoft.com/office/drawing/2014/main" id="{FEF5E261-0242-7426-9D06-178A7FC33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04200"/>
            <a:ext cx="10107038" cy="66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94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C371D-07E0-EE32-9206-EB0A530B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k-KZ" dirty="0">
                <a:solidFill>
                  <a:schemeClr val="accent1"/>
                </a:solidFill>
                <a:latin typeface="Comic Sans MS" panose="030F0702030302020204" pitchFamily="66" charset="0"/>
              </a:rPr>
              <a:t>Кейс</a:t>
            </a:r>
            <a:endParaRPr lang="ru-KZ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F01A20-3912-8297-4A7D-D7BA76DC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85" y="1572706"/>
            <a:ext cx="10515600" cy="4351338"/>
          </a:xfrm>
        </p:spPr>
        <p:txBody>
          <a:bodyPr/>
          <a:lstStyle/>
          <a:p>
            <a:r>
              <a:rPr lang="kk-KZ" dirty="0">
                <a:solidFill>
                  <a:schemeClr val="tx2"/>
                </a:solidFill>
              </a:rPr>
              <a:t>Я живу в городе Петропавл и хочу открыть маленькую аптеку. Хочу заказать препараты на интернет</a:t>
            </a:r>
            <a:r>
              <a:rPr lang="ru-RU" dirty="0">
                <a:solidFill>
                  <a:schemeClr val="tx2"/>
                </a:solidFill>
              </a:rPr>
              <a:t>-магазине </a:t>
            </a:r>
            <a:r>
              <a:rPr lang="en-US" dirty="0" err="1">
                <a:solidFill>
                  <a:schemeClr val="tx2"/>
                </a:solidFill>
              </a:rPr>
              <a:t>Daribar</a:t>
            </a:r>
            <a:r>
              <a:rPr lang="en-US" dirty="0">
                <a:solidFill>
                  <a:schemeClr val="tx2"/>
                </a:solidFill>
              </a:rPr>
              <a:t>. </a:t>
            </a:r>
            <a:r>
              <a:rPr lang="kk-KZ" dirty="0">
                <a:solidFill>
                  <a:schemeClr val="tx2"/>
                </a:solidFill>
              </a:rPr>
              <a:t>Благодаря проведенному анализу я убедилась, что покупать в Алматы выгоднее чем в Астане, но я должна учитывать расходы на доставку. Цена на доставка напрямую зависит от км между городами.</a:t>
            </a:r>
          </a:p>
          <a:p>
            <a:r>
              <a:rPr lang="kk-KZ" dirty="0">
                <a:solidFill>
                  <a:schemeClr val="tx2"/>
                </a:solidFill>
              </a:rPr>
              <a:t>Алматы </a:t>
            </a:r>
            <a:r>
              <a:rPr lang="ru-RU" dirty="0">
                <a:solidFill>
                  <a:schemeClr val="tx2"/>
                </a:solidFill>
              </a:rPr>
              <a:t>– </a:t>
            </a:r>
            <a:r>
              <a:rPr lang="ru-RU" dirty="0" err="1">
                <a:solidFill>
                  <a:schemeClr val="tx2"/>
                </a:solidFill>
              </a:rPr>
              <a:t>Петропавл</a:t>
            </a:r>
            <a:r>
              <a:rPr lang="ru-RU" dirty="0">
                <a:solidFill>
                  <a:schemeClr val="tx2"/>
                </a:solidFill>
              </a:rPr>
              <a:t>   = </a:t>
            </a:r>
            <a:r>
              <a:rPr lang="ru-KZ" dirty="0">
                <a:solidFill>
                  <a:schemeClr val="tx2"/>
                </a:solidFill>
              </a:rPr>
              <a:t>1 718 км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Астана – </a:t>
            </a:r>
            <a:r>
              <a:rPr lang="ru-RU" dirty="0" err="1">
                <a:solidFill>
                  <a:schemeClr val="tx2"/>
                </a:solidFill>
              </a:rPr>
              <a:t>Петропавл</a:t>
            </a:r>
            <a:r>
              <a:rPr lang="ru-RU" dirty="0">
                <a:solidFill>
                  <a:schemeClr val="tx2"/>
                </a:solidFill>
              </a:rPr>
              <a:t>   = 495км</a:t>
            </a:r>
            <a:r>
              <a:rPr lang="kk-KZ" dirty="0">
                <a:solidFill>
                  <a:schemeClr val="tx2"/>
                </a:solidFill>
              </a:rPr>
              <a:t> </a:t>
            </a:r>
          </a:p>
          <a:p>
            <a:r>
              <a:rPr lang="kk-KZ" dirty="0">
                <a:solidFill>
                  <a:schemeClr val="tx2"/>
                </a:solidFill>
              </a:rPr>
              <a:t>Тариф за км – 250тг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838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D17A0CBF-4A40-E4C8-51D0-71634EC48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30" y="200265"/>
            <a:ext cx="9718900" cy="645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84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EF0C56-3C5B-6DFA-B58B-3CB568031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95250"/>
            <a:ext cx="11430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11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43C62-3B28-AB1A-42C1-941E6C41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k-KZ" dirty="0">
                <a:solidFill>
                  <a:schemeClr val="accent1"/>
                </a:solidFill>
                <a:latin typeface="Comic Sans MS" panose="030F0702030302020204" pitchFamily="66" charset="0"/>
              </a:rPr>
              <a:t>Выводы</a:t>
            </a:r>
            <a:endParaRPr lang="ru-KZ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71E86C-2AE5-50D0-F1E2-694FE9618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2"/>
                </a:solidFill>
              </a:rPr>
              <a:t>Л</a:t>
            </a:r>
            <a:r>
              <a:rPr lang="ru-KZ" dirty="0" err="1">
                <a:solidFill>
                  <a:schemeClr val="tx2"/>
                </a:solidFill>
              </a:rPr>
              <a:t>идером</a:t>
            </a:r>
            <a:r>
              <a:rPr lang="ru-KZ" dirty="0">
                <a:solidFill>
                  <a:schemeClr val="tx2"/>
                </a:solidFill>
              </a:rPr>
              <a:t> по количеству представленных антибактериальных препаратов является Индия. Кроме того, количество уникальных индийских фармацевтических компаний значительно превышает показатели других стран.</a:t>
            </a:r>
          </a:p>
          <a:p>
            <a:r>
              <a:rPr lang="ru-KZ" dirty="0">
                <a:solidFill>
                  <a:schemeClr val="tx2"/>
                </a:solidFill>
              </a:rPr>
              <a:t>В среднем препараты в Алматы продаются дешевле, чем в Астане. Проведённый статистический тест показал, что различие в ценах является статистически значимым.</a:t>
            </a:r>
          </a:p>
          <a:p>
            <a:r>
              <a:rPr lang="ru-KZ" dirty="0">
                <a:solidFill>
                  <a:schemeClr val="tx2"/>
                </a:solidFill>
              </a:rPr>
              <a:t>Более 90% препаратов находятся в ценовом диапазоне до 5 000 тенге.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2781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11B15-2833-F768-7199-3CB2E534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k-KZ" dirty="0">
                <a:solidFill>
                  <a:schemeClr val="accent1"/>
                </a:solidFill>
                <a:latin typeface="Comic Sans MS" panose="030F0702030302020204" pitchFamily="66" charset="0"/>
              </a:rPr>
              <a:t>Выводы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C440DE-C6B9-2118-919A-883098B6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ru-KZ" dirty="0">
                <a:solidFill>
                  <a:schemeClr val="tx2"/>
                </a:solidFill>
              </a:rPr>
              <a:t>При этом препараты с максимальной разницей в цене оказались дороже в Алматы. Необходимо дополнительно проверить причины таких различий: сравнить продавцов, производителей, форму выпуска, количество единиц в упаковке, условия хранения и сроки годности.</a:t>
            </a:r>
          </a:p>
          <a:p>
            <a:r>
              <a:rPr lang="ru-KZ" dirty="0">
                <a:solidFill>
                  <a:schemeClr val="tx2"/>
                </a:solidFill>
              </a:rPr>
              <a:t>Несмотря на большее расстояние до Петропавловска, отдельные препараты выгоднее закупать в Алматы даже с учётом транспортных расходов.</a:t>
            </a:r>
          </a:p>
          <a:p>
            <a:r>
              <a:rPr lang="ru-KZ" dirty="0">
                <a:solidFill>
                  <a:schemeClr val="tx2"/>
                </a:solidFill>
              </a:rPr>
              <a:t>Препараты и аналоги производства Беларуси, России и Индии в среднем стоят дешевле. Наиболее высокие цены наблюдаются у препаратов производства Франции, Германии, Кипра и Греции.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954956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432</Words>
  <Application>Microsoft Office PowerPoint</Application>
  <PresentationFormat>Широкоэкранный</PresentationFormat>
  <Paragraphs>59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Comic Sans MS</vt:lpstr>
      <vt:lpstr>Тема Office</vt:lpstr>
      <vt:lpstr>Анализ ассортимента и цен на антибактериальные препараты в</vt:lpstr>
      <vt:lpstr>Источник данных – интернет-магазин Daribar</vt:lpstr>
      <vt:lpstr>Презентация PowerPoint</vt:lpstr>
      <vt:lpstr>Exploratory Data Analysis (EDA)</vt:lpstr>
      <vt:lpstr>Описание столбцов</vt:lpstr>
      <vt:lpstr>Data cleaning</vt:lpstr>
      <vt:lpstr>Data analysis and visualization Анализ ассортимента</vt:lpstr>
      <vt:lpstr>Презентация PowerPoint</vt:lpstr>
      <vt:lpstr>Презентация PowerPoint</vt:lpstr>
      <vt:lpstr>Презентация PowerPoint</vt:lpstr>
      <vt:lpstr>Сравнительный анализ цен для Астаны и Алматы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Кейс</vt:lpstr>
      <vt:lpstr>Презентация PowerPoint</vt:lpstr>
      <vt:lpstr>Презентация PowerPoint</vt:lpstr>
      <vt:lpstr>Выводы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Айнур Токбай</dc:creator>
  <cp:lastModifiedBy>Айнур Токбай</cp:lastModifiedBy>
  <cp:revision>8</cp:revision>
  <dcterms:created xsi:type="dcterms:W3CDTF">2026-07-30T05:49:32Z</dcterms:created>
  <dcterms:modified xsi:type="dcterms:W3CDTF">2026-08-01T08:10:40Z</dcterms:modified>
</cp:coreProperties>
</file>